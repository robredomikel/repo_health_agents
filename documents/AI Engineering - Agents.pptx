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ppt/slideLayouts/slideLayout11.xml" ContentType="application/vnd.openxmlformats-officedocument.presentationml.slideLayout+xml"/>
  <Override PartName="/ppt/theme/theme1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8" r:id="rId11"/>
  </p:sldMasterIdLst>
  <p:sldIdLst>
    <p:sldId id="256" r:id="rId12"/>
  </p:sldIdLst>
  <p:sldSz cx="10691813" cy="7559675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16"/>
    <p:restoredTop sz="94659"/>
  </p:normalViewPr>
  <p:slideViewPr>
    <p:cSldViewPr snapToGrid="0">
      <p:cViewPr varScale="1">
        <p:scale>
          <a:sx n="133" d="100"/>
          <a:sy n="133" d="100"/>
        </p:scale>
        <p:origin x="222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5" Type="http://schemas.openxmlformats.org/officeDocument/2006/relationships/slideMaster" Target="slideMasters/slideMaster5.xml"/><Relationship Id="rId15" Type="http://schemas.openxmlformats.org/officeDocument/2006/relationships/theme" Target="theme/theme1.xml"/><Relationship Id="rId10" Type="http://schemas.openxmlformats.org/officeDocument/2006/relationships/slideMaster" Target="slideMasters/slideMaster10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364320" y="1094400"/>
            <a:ext cx="9962280" cy="301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534240" y="1768680"/>
            <a:ext cx="9622080" cy="438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05388B0A-EE80-4609-9C25-1BE643EC6E8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5C0C465F-8398-48E8-9ECB-0155FFD6A6B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01C51D4E-BB42-4C6A-BF23-3C6DFA691EF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362ABCF3-FD44-47A6-AD13-096B185217F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364320" y="1094400"/>
            <a:ext cx="9962280" cy="301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534240" y="1768680"/>
            <a:ext cx="9622080" cy="438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556E4F62-FA16-4C9F-B36F-5E58C611FCF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364320" y="1094400"/>
            <a:ext cx="9962280" cy="301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534240" y="1768680"/>
            <a:ext cx="4695480" cy="438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/>
          </p:nvPr>
        </p:nvSpPr>
        <p:spPr>
          <a:xfrm>
            <a:off x="5464800" y="1768680"/>
            <a:ext cx="4695480" cy="438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80DDAC3A-9221-401D-BF46-FFACC5E853A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364320" y="1094400"/>
            <a:ext cx="9962280" cy="301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7"/>
          </p:nvPr>
        </p:nvSpPr>
        <p:spPr/>
        <p:txBody>
          <a:bodyPr/>
          <a:lstStyle/>
          <a:p>
            <a:fld id="{859903E4-9CEB-444B-8D66-85227B2C06FC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F2E600D0-895C-4575-A577-CF162A3557E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B503493B-59EB-45EF-B2B5-99B5B25250D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4FBA2FF-0B89-45B5-9B6F-DE3DD1D45F3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3E4CF54B-86DE-4DA7-9AA2-BE5637B7657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364320" y="1094400"/>
            <a:ext cx="9962280" cy="301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4" name="PlaceHolder 2"/>
          <p:cNvSpPr>
            <a:spLocks noGrp="1"/>
          </p:cNvSpPr>
          <p:nvPr>
            <p:ph type="sldNum" idx="1"/>
          </p:nvPr>
        </p:nvSpPr>
        <p:spPr>
          <a:xfrm>
            <a:off x="9906840" y="6854040"/>
            <a:ext cx="641160" cy="577800"/>
          </a:xfrm>
          <a:prstGeom prst="rect">
            <a:avLst/>
          </a:prstGeom>
          <a:noFill/>
          <a:ln w="0">
            <a:noFill/>
          </a:ln>
        </p:spPr>
        <p:txBody>
          <a:bodyPr lIns="115920" tIns="115920" rIns="115920" bIns="1159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GB" sz="1270" b="0" strike="noStrike" spc="-1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7E038B9-F262-40EA-8A5B-8C3F77392AD6}" type="slidenum">
              <a:rPr lang="en-GB" sz="1270" b="0" strike="noStrike" spc="-1">
                <a:solidFill>
                  <a:schemeClr val="dk2"/>
                </a:solidFill>
                <a:latin typeface="Arial"/>
                <a:ea typeface="Arial"/>
              </a:rPr>
              <a:t>‹#›</a:t>
            </a:fld>
            <a:endParaRPr lang="en-US" sz="12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534240" y="1768680"/>
            <a:ext cx="9622080" cy="438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sldNum" idx="2"/>
          </p:nvPr>
        </p:nvSpPr>
        <p:spPr>
          <a:xfrm>
            <a:off x="9906840" y="6854040"/>
            <a:ext cx="641160" cy="577800"/>
          </a:xfrm>
          <a:prstGeom prst="rect">
            <a:avLst/>
          </a:prstGeom>
          <a:noFill/>
          <a:ln w="0">
            <a:noFill/>
          </a:ln>
        </p:spPr>
        <p:txBody>
          <a:bodyPr lIns="115920" tIns="115920" rIns="115920" bIns="1159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GB" sz="1270" b="0" strike="noStrike" spc="-1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2920245-9B7C-4430-98F9-2C748CADA402}" type="slidenum">
              <a:rPr lang="en-GB" sz="1270" b="0" strike="noStrike" spc="-1">
                <a:solidFill>
                  <a:schemeClr val="dk2"/>
                </a:solidFill>
                <a:latin typeface="Arial"/>
                <a:ea typeface="Arial"/>
              </a:rPr>
              <a:t>‹#›</a:t>
            </a:fld>
            <a:endParaRPr lang="en-US" sz="127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sldNum" idx="3"/>
          </p:nvPr>
        </p:nvSpPr>
        <p:spPr>
          <a:xfrm>
            <a:off x="9906840" y="6854040"/>
            <a:ext cx="641160" cy="577800"/>
          </a:xfrm>
          <a:prstGeom prst="rect">
            <a:avLst/>
          </a:prstGeom>
          <a:noFill/>
          <a:ln w="0">
            <a:noFill/>
          </a:ln>
        </p:spPr>
        <p:txBody>
          <a:bodyPr lIns="115920" tIns="115920" rIns="115920" bIns="1159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GB" sz="1270" b="0" strike="noStrike" spc="-1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1ED3F45-5F25-4BDE-BC6B-A4BBE00E5E7C}" type="slidenum">
              <a:rPr lang="en-GB" sz="1270" b="0" strike="noStrike" spc="-1">
                <a:solidFill>
                  <a:schemeClr val="dk2"/>
                </a:solidFill>
                <a:latin typeface="Arial"/>
                <a:ea typeface="Arial"/>
              </a:rPr>
              <a:t>‹#›</a:t>
            </a:fld>
            <a:endParaRPr lang="en-US" sz="127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sldNum" idx="4"/>
          </p:nvPr>
        </p:nvSpPr>
        <p:spPr>
          <a:xfrm>
            <a:off x="9906840" y="6854040"/>
            <a:ext cx="641160" cy="577800"/>
          </a:xfrm>
          <a:prstGeom prst="rect">
            <a:avLst/>
          </a:prstGeom>
          <a:noFill/>
          <a:ln w="0">
            <a:noFill/>
          </a:ln>
        </p:spPr>
        <p:txBody>
          <a:bodyPr lIns="115920" tIns="115920" rIns="115920" bIns="1159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GB" sz="1270" b="0" strike="noStrike" spc="-1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4B0ABA5-F6F7-4353-BF95-BA8B948EA357}" type="slidenum">
              <a:rPr lang="en-GB" sz="1270" b="0" strike="noStrike" spc="-1">
                <a:solidFill>
                  <a:schemeClr val="dk2"/>
                </a:solidFill>
                <a:latin typeface="Arial"/>
                <a:ea typeface="Arial"/>
              </a:rPr>
              <a:t>‹#›</a:t>
            </a:fld>
            <a:endParaRPr lang="en-US" sz="127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364320" y="1094400"/>
            <a:ext cx="9962280" cy="301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534600" y="1769040"/>
            <a:ext cx="9622080" cy="438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10" name="PlaceHolder 3"/>
          <p:cNvSpPr>
            <a:spLocks noGrp="1"/>
          </p:cNvSpPr>
          <p:nvPr>
            <p:ph type="sldNum" idx="5"/>
          </p:nvPr>
        </p:nvSpPr>
        <p:spPr>
          <a:xfrm>
            <a:off x="9906840" y="6854040"/>
            <a:ext cx="641160" cy="577800"/>
          </a:xfrm>
          <a:prstGeom prst="rect">
            <a:avLst/>
          </a:prstGeom>
          <a:noFill/>
          <a:ln w="0">
            <a:noFill/>
          </a:ln>
        </p:spPr>
        <p:txBody>
          <a:bodyPr lIns="115920" tIns="115920" rIns="115920" bIns="1159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GB" sz="1270" b="0" strike="noStrike" spc="-1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A73E390-25CF-4D56-84D3-BEC0C6F17E4B}" type="slidenum">
              <a:rPr lang="en-GB" sz="1270" b="0" strike="noStrike" spc="-1">
                <a:solidFill>
                  <a:schemeClr val="dk2"/>
                </a:solidFill>
                <a:latin typeface="Arial"/>
                <a:ea typeface="Arial"/>
              </a:rPr>
              <a:t>‹#›</a:t>
            </a:fld>
            <a:endParaRPr lang="en-US" sz="127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364320" y="1094400"/>
            <a:ext cx="9962280" cy="301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534600" y="1769040"/>
            <a:ext cx="4695120" cy="438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5465160" y="1769040"/>
            <a:ext cx="4695120" cy="438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16" name="PlaceHolder 4"/>
          <p:cNvSpPr>
            <a:spLocks noGrp="1"/>
          </p:cNvSpPr>
          <p:nvPr>
            <p:ph type="sldNum" idx="6"/>
          </p:nvPr>
        </p:nvSpPr>
        <p:spPr>
          <a:xfrm>
            <a:off x="9906840" y="6854040"/>
            <a:ext cx="641160" cy="577800"/>
          </a:xfrm>
          <a:prstGeom prst="rect">
            <a:avLst/>
          </a:prstGeom>
          <a:noFill/>
          <a:ln w="0">
            <a:noFill/>
          </a:ln>
        </p:spPr>
        <p:txBody>
          <a:bodyPr lIns="115920" tIns="115920" rIns="115920" bIns="1159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GB" sz="1270" b="0" strike="noStrike" spc="-1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FC18166-56A1-4089-A321-F6E3284F31E7}" type="slidenum">
              <a:rPr lang="en-GB" sz="1270" b="0" strike="noStrike" spc="-1">
                <a:solidFill>
                  <a:schemeClr val="dk2"/>
                </a:solidFill>
                <a:latin typeface="Arial"/>
                <a:ea typeface="Arial"/>
              </a:rPr>
              <a:t>‹#›</a:t>
            </a:fld>
            <a:endParaRPr lang="en-US" sz="127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364320" y="1094400"/>
            <a:ext cx="9962280" cy="301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21" name="PlaceHolder 2"/>
          <p:cNvSpPr>
            <a:spLocks noGrp="1"/>
          </p:cNvSpPr>
          <p:nvPr>
            <p:ph type="sldNum" idx="7"/>
          </p:nvPr>
        </p:nvSpPr>
        <p:spPr>
          <a:xfrm>
            <a:off x="9906840" y="6854040"/>
            <a:ext cx="641160" cy="577800"/>
          </a:xfrm>
          <a:prstGeom prst="rect">
            <a:avLst/>
          </a:prstGeom>
          <a:noFill/>
          <a:ln w="0">
            <a:noFill/>
          </a:ln>
        </p:spPr>
        <p:txBody>
          <a:bodyPr lIns="115920" tIns="115920" rIns="115920" bIns="1159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GB" sz="1270" b="0" strike="noStrike" spc="-1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A82253E-77E5-47DC-91CD-9200AF9E67D7}" type="slidenum">
              <a:rPr lang="en-GB" sz="1270" b="0" strike="noStrike" spc="-1">
                <a:solidFill>
                  <a:schemeClr val="dk2"/>
                </a:solidFill>
                <a:latin typeface="Arial"/>
                <a:ea typeface="Arial"/>
              </a:rPr>
              <a:t>‹#›</a:t>
            </a:fld>
            <a:endParaRPr lang="en-US" sz="127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sldNum" idx="8"/>
          </p:nvPr>
        </p:nvSpPr>
        <p:spPr>
          <a:xfrm>
            <a:off x="9906840" y="6854040"/>
            <a:ext cx="641160" cy="577800"/>
          </a:xfrm>
          <a:prstGeom prst="rect">
            <a:avLst/>
          </a:prstGeom>
          <a:noFill/>
          <a:ln w="0">
            <a:noFill/>
          </a:ln>
        </p:spPr>
        <p:txBody>
          <a:bodyPr lIns="115920" tIns="115920" rIns="115920" bIns="1159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GB" sz="1270" b="0" strike="noStrike" spc="-1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22E1278-724F-488D-9DDE-07DBD7773CA1}" type="slidenum">
              <a:rPr lang="en-GB" sz="1270" b="0" strike="noStrike" spc="-1">
                <a:solidFill>
                  <a:schemeClr val="dk2"/>
                </a:solidFill>
                <a:latin typeface="Arial"/>
                <a:ea typeface="Arial"/>
              </a:rPr>
              <a:t>‹#›</a:t>
            </a:fld>
            <a:endParaRPr lang="en-US" sz="127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sldNum" idx="9"/>
          </p:nvPr>
        </p:nvSpPr>
        <p:spPr>
          <a:xfrm>
            <a:off x="9906840" y="6854040"/>
            <a:ext cx="641160" cy="577800"/>
          </a:xfrm>
          <a:prstGeom prst="rect">
            <a:avLst/>
          </a:prstGeom>
          <a:noFill/>
          <a:ln w="0">
            <a:noFill/>
          </a:ln>
        </p:spPr>
        <p:txBody>
          <a:bodyPr lIns="115920" tIns="115920" rIns="115920" bIns="1159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GB" sz="1270" b="0" strike="noStrike" spc="-1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D862E70-2C50-4A3F-AF36-478A3AC849E7}" type="slidenum">
              <a:rPr lang="en-GB" sz="1270" b="0" strike="noStrike" spc="-1">
                <a:solidFill>
                  <a:schemeClr val="dk2"/>
                </a:solidFill>
                <a:latin typeface="Arial"/>
                <a:ea typeface="Arial"/>
              </a:rPr>
              <a:t>‹#›</a:t>
            </a:fld>
            <a:endParaRPr lang="en-US" sz="127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36;p9"/>
          <p:cNvSpPr/>
          <p:nvPr/>
        </p:nvSpPr>
        <p:spPr>
          <a:xfrm>
            <a:off x="5346000" y="-360"/>
            <a:ext cx="5345280" cy="75592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5920" tIns="115920" rIns="115920" bIns="11592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1"/>
          <p:cNvSpPr>
            <a:spLocks noGrp="1"/>
          </p:cNvSpPr>
          <p:nvPr>
            <p:ph type="sldNum" idx="10"/>
          </p:nvPr>
        </p:nvSpPr>
        <p:spPr>
          <a:xfrm>
            <a:off x="9906840" y="6854040"/>
            <a:ext cx="641160" cy="577800"/>
          </a:xfrm>
          <a:prstGeom prst="rect">
            <a:avLst/>
          </a:prstGeom>
          <a:noFill/>
          <a:ln w="0">
            <a:noFill/>
          </a:ln>
        </p:spPr>
        <p:txBody>
          <a:bodyPr lIns="115920" tIns="115920" rIns="115920" bIns="1159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GB" sz="1270" b="0" strike="noStrike" spc="-1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D71B4A2-D4A5-47E5-9B5F-9AC2CE5DE5E7}" type="slidenum">
              <a:rPr lang="en-GB" sz="1270" b="0" strike="noStrike" spc="-1">
                <a:solidFill>
                  <a:schemeClr val="dk2"/>
                </a:solidFill>
                <a:latin typeface="Arial"/>
                <a:ea typeface="Arial"/>
              </a:rPr>
              <a:t>‹#›</a:t>
            </a:fld>
            <a:endParaRPr lang="en-US" sz="127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sldNum" idx="11"/>
          </p:nvPr>
        </p:nvSpPr>
        <p:spPr>
          <a:xfrm>
            <a:off x="9906840" y="6854040"/>
            <a:ext cx="641160" cy="577800"/>
          </a:xfrm>
          <a:prstGeom prst="rect">
            <a:avLst/>
          </a:prstGeom>
          <a:noFill/>
          <a:ln w="0">
            <a:noFill/>
          </a:ln>
        </p:spPr>
        <p:txBody>
          <a:bodyPr lIns="115920" tIns="115920" rIns="115920" bIns="1159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GB" sz="1270" b="0" strike="noStrike" spc="-1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8A4119B-C32D-4A1A-829E-D1C399FBE681}" type="slidenum">
              <a:rPr lang="en-GB" sz="1270" b="0" strike="noStrike" spc="-1">
                <a:solidFill>
                  <a:schemeClr val="dk2"/>
                </a:solidFill>
                <a:latin typeface="Arial"/>
                <a:ea typeface="Arial"/>
              </a:rPr>
              <a:t>‹#›</a:t>
            </a:fld>
            <a:endParaRPr lang="en-US" sz="127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" name="Google Shape;88;p14"/>
          <p:cNvGraphicFramePr/>
          <p:nvPr>
            <p:extLst>
              <p:ext uri="{D42A27DB-BD31-4B8C-83A1-F6EECF244321}">
                <p14:modId xmlns:p14="http://schemas.microsoft.com/office/powerpoint/2010/main" val="3452982192"/>
              </p:ext>
            </p:extLst>
          </p:nvPr>
        </p:nvGraphicFramePr>
        <p:xfrm>
          <a:off x="0" y="52560"/>
          <a:ext cx="10690560" cy="9723120"/>
        </p:xfrm>
        <a:graphic>
          <a:graphicData uri="http://schemas.openxmlformats.org/drawingml/2006/table">
            <a:tbl>
              <a:tblPr/>
              <a:tblGrid>
                <a:gridCol w="1165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06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361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13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609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08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Agent</a:t>
                      </a:r>
                      <a:endParaRPr lang="en-US" sz="10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0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strike="noStrike" spc="-1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Purpose/</a:t>
                      </a:r>
                      <a:br>
                        <a:rPr sz="1000"/>
                      </a:br>
                      <a:r>
                        <a:rPr lang="en-GB" sz="1000" b="1" strike="noStrike" spc="-1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responsibility</a:t>
                      </a:r>
                      <a:endParaRPr lang="en-US" sz="10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strike="noStrike" spc="-1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Inputs</a:t>
                      </a:r>
                      <a:endParaRPr lang="en-US" sz="10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strike="noStrike" spc="-1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Success/stop</a:t>
                      </a:r>
                      <a:br>
                        <a:rPr sz="1000"/>
                      </a:br>
                      <a:r>
                        <a:rPr lang="en-GB" sz="1000" b="1" strike="noStrike" spc="-1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criteria</a:t>
                      </a:r>
                      <a:endParaRPr lang="en-US" sz="10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Capabilities and tools</a:t>
                      </a:r>
                      <a:endParaRPr lang="en-US" sz="10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strike="noStrike" spc="-1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External knowledge</a:t>
                      </a:r>
                      <a:br>
                        <a:rPr sz="1000"/>
                      </a:br>
                      <a:r>
                        <a:rPr lang="en-GB" sz="1000" b="1" strike="noStrike" spc="-1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(e.g., RAG)?</a:t>
                      </a:r>
                      <a:endParaRPr lang="en-US" sz="10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strike="noStrike" spc="-1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Memory?</a:t>
                      </a:r>
                      <a:endParaRPr lang="en-US" sz="10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strike="noStrike" spc="-1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Guardrails?</a:t>
                      </a:r>
                      <a:endParaRPr lang="en-US" sz="10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D0E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8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strike="noStrike" spc="-1" dirty="0">
                          <a:solidFill>
                            <a:srgbClr val="000000"/>
                          </a:solidFill>
                          <a:latin typeface="Arial"/>
                        </a:rPr>
                        <a:t>Supervisor agent</a:t>
                      </a:r>
                    </a:p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9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strike="noStrike" spc="-1" dirty="0">
                          <a:solidFill>
                            <a:srgbClr val="000000"/>
                          </a:solidFill>
                          <a:latin typeface="+mn-lt"/>
                        </a:rPr>
                        <a:t>Coordinates the full repository health analysis workflow. It manages the subordinate agents and generates the final report based on their outputs.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9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/>
                        <a:t>Repository path, user decision question, outputs from all other agents.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9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/>
                        <a:t>Stops after all specialist agents have responded</a:t>
                      </a:r>
                      <a:r>
                        <a:rPr lang="en-US" sz="900" b="0" strike="noStrike" spc="-1" dirty="0">
                          <a:solidFill>
                            <a:srgbClr val="000000"/>
                          </a:solidFill>
                          <a:latin typeface="Arial"/>
                        </a:rPr>
                        <a:t>.</a:t>
                      </a:r>
                      <a:endParaRPr lang="en-US" sz="900" dirty="0"/>
                    </a:p>
                  </a:txBody>
                  <a:tcPr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/>
                        <a:t>Uses the AG2 SDK Agent tool to call the subagents. 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9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strike="noStrike" spc="-1" dirty="0">
                          <a:solidFill>
                            <a:srgbClr val="000000"/>
                          </a:solidFill>
                          <a:latin typeface="Arial"/>
                        </a:rPr>
                        <a:t>No RAG. O</a:t>
                      </a:r>
                      <a:r>
                        <a:rPr lang="en-US" sz="900" dirty="0"/>
                        <a:t>nly local repository evidence gathered by subagents through tools.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9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/>
                        <a:t>Keeps only the current run’s conversation.</a:t>
                      </a:r>
                      <a:endParaRPr lang="en-US" sz="9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en-US" sz="900" dirty="0"/>
                        <a:t>Does not edit repository files.</a:t>
                      </a:r>
                    </a:p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9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9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9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8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strike="noStrike" spc="-1" dirty="0">
                          <a:solidFill>
                            <a:srgbClr val="000000"/>
                          </a:solidFill>
                          <a:latin typeface="Arial"/>
                        </a:rPr>
                        <a:t>Repository inspector agent</a:t>
                      </a:r>
                    </a:p>
                  </a:txBody>
                  <a:tcPr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/>
                        <a:t>Collects factual evidence about the repository structure</a:t>
                      </a:r>
                      <a:r>
                        <a:rPr lang="en-US" sz="900" b="0" strike="noStrike" spc="-1" dirty="0">
                          <a:solidFill>
                            <a:srgbClr val="000000"/>
                          </a:solidFill>
                          <a:latin typeface="Arial"/>
                        </a:rPr>
                        <a:t>.</a:t>
                      </a:r>
                      <a:endParaRPr lang="en-US" sz="900" dirty="0"/>
                    </a:p>
                  </a:txBody>
                  <a:tcPr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/>
                        <a:t>Target repository root</a:t>
                      </a:r>
                      <a:r>
                        <a:rPr lang="en-US" sz="900" b="0" strike="noStrike" spc="-1" dirty="0">
                          <a:solidFill>
                            <a:srgbClr val="000000"/>
                          </a:solidFill>
                          <a:latin typeface="Arial"/>
                        </a:rPr>
                        <a:t>.</a:t>
                      </a:r>
                      <a:endParaRPr lang="en-US" sz="900" dirty="0"/>
                    </a:p>
                  </a:txBody>
                  <a:tcPr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/>
                        <a:t>Stops after gathering enough factual evidence about repository structure, tests, CI, license, dependencies, and recent commits.</a:t>
                      </a:r>
                    </a:p>
                  </a:txBody>
                  <a:tcPr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/>
                        <a:t>MCP tools: </a:t>
                      </a:r>
                      <a:r>
                        <a:rPr lang="en-US" sz="900" dirty="0" err="1"/>
                        <a:t>list_repo_files</a:t>
                      </a:r>
                      <a:r>
                        <a:rPr lang="en-US" sz="900" dirty="0"/>
                        <a:t>, </a:t>
                      </a:r>
                      <a:r>
                        <a:rPr lang="en-US" sz="900" dirty="0" err="1"/>
                        <a:t>read_file</a:t>
                      </a:r>
                      <a:r>
                        <a:rPr lang="en-US" sz="900" dirty="0"/>
                        <a:t>, </a:t>
                      </a:r>
                      <a:r>
                        <a:rPr lang="en-US" sz="900" dirty="0" err="1"/>
                        <a:t>count_test_files</a:t>
                      </a:r>
                      <a:r>
                        <a:rPr lang="en-US" sz="900" dirty="0"/>
                        <a:t>, </a:t>
                      </a:r>
                      <a:r>
                        <a:rPr lang="en-US" sz="900" dirty="0" err="1"/>
                        <a:t>detect_ci_files</a:t>
                      </a:r>
                      <a:r>
                        <a:rPr lang="en-US" sz="900" dirty="0"/>
                        <a:t>, </a:t>
                      </a:r>
                      <a:r>
                        <a:rPr lang="en-US" sz="900" dirty="0" err="1"/>
                        <a:t>detect_license</a:t>
                      </a:r>
                      <a:r>
                        <a:rPr lang="en-US" sz="900" dirty="0"/>
                        <a:t>, </a:t>
                      </a:r>
                      <a:r>
                        <a:rPr lang="en-US" sz="900" dirty="0" err="1"/>
                        <a:t>recent_commits</a:t>
                      </a:r>
                      <a:r>
                        <a:rPr lang="en-US" sz="900" dirty="0"/>
                        <a:t>.</a:t>
                      </a:r>
                    </a:p>
                  </a:txBody>
                  <a:tcPr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/>
                        <a:t>Uses local file system and local Git metadata only.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9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/>
                        <a:t>Uses only current analysis context.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9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en-US" sz="900" dirty="0"/>
                        <a:t>Cannot read outside the repository.</a:t>
                      </a:r>
                      <a:endParaRPr lang="en-US" sz="9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9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9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9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8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strike="noStrike" spc="-1" dirty="0">
                          <a:solidFill>
                            <a:srgbClr val="000000"/>
                          </a:solidFill>
                          <a:latin typeface="Arial"/>
                        </a:rPr>
                        <a:t>Code Quality Agent</a:t>
                      </a:r>
                    </a:p>
                  </a:txBody>
                  <a:tcPr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/>
                        <a:t>Evaluates maintainability and engineering quality signals such as project organization, test presence, dependency complexity and documentation </a:t>
                      </a:r>
                      <a:r>
                        <a:rPr lang="en-US" sz="900" dirty="0" err="1"/>
                        <a:t>asåpects</a:t>
                      </a:r>
                      <a:r>
                        <a:rPr lang="en-US" sz="900" dirty="0"/>
                        <a:t>.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9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/>
                        <a:t>Repository file list, dependency file summaries, test count, selected file previews</a:t>
                      </a:r>
                      <a:r>
                        <a:rPr lang="en-US" sz="900" b="0" strike="noStrike" spc="-1" dirty="0">
                          <a:solidFill>
                            <a:srgbClr val="000000"/>
                          </a:solidFill>
                          <a:latin typeface="Arial"/>
                        </a:rPr>
                        <a:t>,, among others.</a:t>
                      </a:r>
                      <a:endParaRPr lang="en-US" sz="900" dirty="0"/>
                    </a:p>
                  </a:txBody>
                  <a:tcPr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/>
                        <a:t>Stops after identifying main maintainability strength and weaknesses.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9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/>
                        <a:t>MCP tools: </a:t>
                      </a:r>
                      <a:r>
                        <a:rPr lang="en-US" sz="900" dirty="0" err="1"/>
                        <a:t>list_repo_files</a:t>
                      </a:r>
                      <a:r>
                        <a:rPr lang="en-US" sz="900" dirty="0"/>
                        <a:t>, </a:t>
                      </a:r>
                      <a:r>
                        <a:rPr lang="en-US" sz="900" dirty="0" err="1"/>
                        <a:t>read_file</a:t>
                      </a:r>
                      <a:r>
                        <a:rPr lang="en-US" sz="900" dirty="0"/>
                        <a:t>, </a:t>
                      </a:r>
                      <a:r>
                        <a:rPr lang="en-US" sz="900" dirty="0" err="1"/>
                        <a:t>count_test_files</a:t>
                      </a:r>
                      <a:r>
                        <a:rPr lang="en-US" sz="900" dirty="0"/>
                        <a:t>, </a:t>
                      </a:r>
                      <a:r>
                        <a:rPr lang="en-US" sz="900" dirty="0" err="1"/>
                        <a:t>detect_ci_files</a:t>
                      </a:r>
                      <a:r>
                        <a:rPr lang="en-US" sz="900" dirty="0"/>
                        <a:t>, </a:t>
                      </a:r>
                      <a:r>
                        <a:rPr lang="en-US" sz="900" dirty="0" err="1"/>
                        <a:t>detect_license</a:t>
                      </a:r>
                      <a:r>
                        <a:rPr lang="en-US" sz="900" dirty="0"/>
                        <a:t>, </a:t>
                      </a:r>
                      <a:r>
                        <a:rPr lang="en-US" sz="900" dirty="0" err="1"/>
                        <a:t>recent_commits</a:t>
                      </a:r>
                      <a:r>
                        <a:rPr lang="en-US" sz="900" dirty="0"/>
                        <a:t>.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9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/>
                        <a:t>Uses only local repository files and tool outputs.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9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/>
                        <a:t>Uses only current analysis context.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9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en-US" sz="900" dirty="0"/>
                        <a:t>Does not execute project code. Only scans text previews.</a:t>
                      </a:r>
                    </a:p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9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9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9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08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strike="noStrike" spc="-1" dirty="0">
                          <a:solidFill>
                            <a:srgbClr val="000000"/>
                          </a:solidFill>
                          <a:latin typeface="Arial"/>
                        </a:rPr>
                        <a:t>Risk Assessment Agent</a:t>
                      </a:r>
                    </a:p>
                  </a:txBody>
                  <a:tcPr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/>
                        <a:t>Converts the inspection and quality findings into an adoption-risk decision.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9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/>
                        <a:t>Results from Repository Inspector Agent and Code Quality Agent.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9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/>
                        <a:t>Stops after choosing exactly one risk label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9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/>
                        <a:t>No direct tools. Reasoning-only agent.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9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/>
                        <a:t>Relies on previous agents’ evidence.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9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/>
                        <a:t>Uses only current analysis context.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9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en-US" sz="900" dirty="0"/>
                        <a:t>Must not invent evidence. Must explain uncertainty and missing information.</a:t>
                      </a:r>
                      <a:endParaRPr lang="en-US" sz="9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9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9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08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strike="noStrike" spc="-1" dirty="0">
                          <a:solidFill>
                            <a:srgbClr val="000000"/>
                          </a:solidFill>
                          <a:latin typeface="Arial"/>
                        </a:rPr>
                        <a:t>Recommendation Agent</a:t>
                      </a:r>
                    </a:p>
                  </a:txBody>
                  <a:tcPr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/>
                        <a:t>Gives practical next steps for a developer deciding whether to do.</a:t>
                      </a:r>
                    </a:p>
                  </a:txBody>
                  <a:tcPr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/>
                        <a:t>Risk assessment, repository evidence and quality findings</a:t>
                      </a:r>
                      <a:r>
                        <a:rPr lang="en-US" sz="900" b="0" strike="noStrike" spc="-1" dirty="0">
                          <a:solidFill>
                            <a:srgbClr val="000000"/>
                          </a:solidFill>
                          <a:latin typeface="Arial"/>
                        </a:rPr>
                        <a:t>.</a:t>
                      </a:r>
                      <a:endParaRPr lang="en-US" sz="900" dirty="0"/>
                    </a:p>
                  </a:txBody>
                  <a:tcPr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/>
                        <a:t>Stops after producing concrete, actionable recommendations.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9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/>
                        <a:t>No direct tools. Reasoning-only agent.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9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/>
                        <a:t>Uses the findings from the current workflow.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9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/>
                        <a:t>Uses only current analysis context.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9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en-US" sz="900" dirty="0"/>
                        <a:t>Should suggest review actions rather than modifying files automatically.</a:t>
                      </a:r>
                    </a:p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9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9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9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9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08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strike="noStrike" spc="-1" dirty="0">
                          <a:solidFill>
                            <a:srgbClr val="000000"/>
                          </a:solidFill>
                          <a:latin typeface="Arial"/>
                        </a:rPr>
                        <a:t>MCP Tool Layer</a:t>
                      </a:r>
                    </a:p>
                  </a:txBody>
                  <a:tcPr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/>
                        <a:t>Provides safe, local, executable functions that agents can call to inspect the repository.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/>
                        <a:t>File paths, repository-relative paths, and commit limits.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9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/>
                        <a:t>Each tool stops when it returns a bounded JSON-style result to the calling agent.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9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strike="noStrike" spc="-1" dirty="0">
                          <a:solidFill>
                            <a:srgbClr val="000000"/>
                          </a:solidFill>
                          <a:latin typeface="Arial"/>
                        </a:rPr>
                        <a:t>They are the tools themselves.</a:t>
                      </a:r>
                    </a:p>
                  </a:txBody>
                  <a:tcPr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/>
                        <a:t>Reads local repository files and local Git history only.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9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/>
                        <a:t>Uses only current analysis context.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9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en-US" sz="900" dirty="0"/>
                        <a:t>Prevents path traversal with </a:t>
                      </a:r>
                      <a:r>
                        <a:rPr lang="en-US" sz="900" dirty="0" err="1"/>
                        <a:t>resolve_inside_repo</a:t>
                      </a:r>
                      <a:r>
                        <a:rPr lang="en-US" sz="900" dirty="0"/>
                        <a:t>; limits file previews; limits commit count; ignores large/noisy folders; does not perform network calls; does not modify repository files.</a:t>
                      </a:r>
                    </a:p>
                  </a:txBody>
                  <a:tcPr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08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9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08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9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9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08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9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9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9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9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9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9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</TotalTime>
  <Words>539</Words>
  <Application>Microsoft Macintosh PowerPoint</Application>
  <PresentationFormat>Custom</PresentationFormat>
  <Paragraphs>76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11</vt:i4>
      </vt:variant>
      <vt:variant>
        <vt:lpstr>Slide Titles</vt:lpstr>
      </vt:variant>
      <vt:variant>
        <vt:i4>1</vt:i4>
      </vt:variant>
    </vt:vector>
  </HeadingPairs>
  <TitlesOfParts>
    <vt:vector size="16" baseType="lpstr">
      <vt:lpstr>Arial</vt:lpstr>
      <vt:lpstr>Symbol</vt:lpstr>
      <vt:lpstr>Times New Roman</vt:lpstr>
      <vt:lpstr>Wingdings</vt:lpstr>
      <vt:lpstr>Simple Light</vt:lpstr>
      <vt:lpstr>Simple Light</vt:lpstr>
      <vt:lpstr>Simple Light</vt:lpstr>
      <vt:lpstr>Simple Light</vt:lpstr>
      <vt:lpstr>Simple Light</vt:lpstr>
      <vt:lpstr>Simple Light</vt:lpstr>
      <vt:lpstr>Simple Light</vt:lpstr>
      <vt:lpstr>Simple Light</vt:lpstr>
      <vt:lpstr>Simple Light</vt:lpstr>
      <vt:lpstr>Simple Light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/>
  <cp:lastModifiedBy>Mikel Robredo Manero</cp:lastModifiedBy>
  <cp:revision>5</cp:revision>
  <dcterms:modified xsi:type="dcterms:W3CDTF">2026-05-09T16:37:32Z</dcterms:modified>
  <dc:language>en-US</dc:language>
</cp:coreProperties>
</file>